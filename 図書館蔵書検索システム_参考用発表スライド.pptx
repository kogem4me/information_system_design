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【発表開始】システム名・科目名・メンバーを紹介してください。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目次を見せながら「本日はこの6項目の順に発表します」と案内してください。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課題と目的を対比させて説明。「この4つの課題を解決するために本システムを開発しました」と繋げてください。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3層の役割を上から順に説明。「app.pyが入口、models.pyが処理、database.pyがデータ管理」とシンプルに。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ユースケースは「誰が何をできるか」を説明。ER図は「4テーブルがFKで繋がっている」点を強調してください。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「app.pyが入口、models.pyが頭脳、database.pyが倉庫、templatesが顔」と例えると分かりやすいです。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「NG条件が一つでも引っかかったらエラーを返す多重チェック設計」と説明すると設計の工夫が伝わります。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「julianday関数でSQL内だけで計算するため、Pythonで日付計算するより効率的」と補足できます。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ここで実際にブラウザのデモを行う。「python app.py を実行して http://127.0.0.1:5000 でアクセス」と説明。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「要求定義書で定めたMust要件を全て実装できました」と自信を持って言えます。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「今回はMust要件に絞って確実に完成させました。余裕があればShould要件も追加予定です」と締めてください。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質疑応答の時間です。想定質問：「SQLのLIKE検索はどう動くか」「PRGパターンとは何か」など。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47472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1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情報システムデザイン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804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最終課題発表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80560" y="10972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図書館蔵書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検索システム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48056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Library Book Search System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80560" y="3566160"/>
            <a:ext cx="4297680" cy="1188720"/>
          </a:xfrm>
          <a:prstGeom prst="rect">
            <a:avLst/>
          </a:prstGeom>
          <a:solidFill>
            <a:srgbClr val="2E4D7B">
              <a:alpha val="7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657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発表メンバー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                       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2026年6月29日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発表の流れ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現状の課題と開発目的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581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なぜこのシステムを作るのか？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51560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161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システム設計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581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3層アーキテクチャ・ユースケース図・ER図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13432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13432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プログラム構成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ファイル構成と3層への対応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313432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13432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313432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主要機能の実装解説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94960" y="2843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蔵書検索・貸出・返却・延滞管理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75304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75304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75304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デモ / 画面紹介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1056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実際の動作を確認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575304"/>
            <a:ext cx="411480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575304"/>
            <a:ext cx="502920" cy="1115568"/>
          </a:xfrm>
          <a:prstGeom prst="rect">
            <a:avLst>
              <a:gd name="adj" fmla="val 1454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75304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36850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まとめと今後の展望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41056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実装した要求・課題・改善案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現状の課題と開発目的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現状の課題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貸出状況が不明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在庫をリアルタイムで確認できない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3931920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328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検索が不便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2697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複数条件での蔵書検索が困難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3931920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0156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手作業で非効率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貸出・返却管理がすべて手作業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069080"/>
            <a:ext cx="3931920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27024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延滞管理が煩雑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05840" y="4434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延滞者リストの作成に時間がかかる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システム化の目的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754880" y="1463040"/>
            <a:ext cx="3931920" cy="749808"/>
          </a:xfrm>
          <a:prstGeom prst="rect">
            <a:avLst>
              <a:gd name="adj" fmla="val 975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66420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3520" y="16276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蔵書の貸出状況をリアルタイムで可視化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754880" y="2331720"/>
            <a:ext cx="3931920" cy="749808"/>
          </a:xfrm>
          <a:prstGeom prst="rect">
            <a:avLst>
              <a:gd name="adj" fmla="val 975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3288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4963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書名・著者・カテゴリのAND検索を提供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754880" y="3200400"/>
            <a:ext cx="3931920" cy="749808"/>
          </a:xfrm>
          <a:prstGeom prst="rect">
            <a:avLst>
              <a:gd name="adj" fmla="val 975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40156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33649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貸出・返却・延滞管理の自動化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754880" y="4069080"/>
            <a:ext cx="3931920" cy="749808"/>
          </a:xfrm>
          <a:prstGeom prst="rect">
            <a:avLst>
              <a:gd name="adj" fmla="val 975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270248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303520" y="4233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職員の業務効率化とミスの削減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システム設計 ― 3層アーキテクチャ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ブラウザ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05840" y="2340864"/>
            <a:ext cx="5029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554480" y="1005840"/>
            <a:ext cx="7132320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13533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31136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プレゼンテーション層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231136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app.py + templates/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231136" y="1737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ブラウザからのリクエストを受け取り、HTMLを返す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120640" y="2103120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554480" y="2267712"/>
            <a:ext cx="71323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615184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31136" y="2359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アプリケーション層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231136" y="2743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models.py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231136" y="29992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業務ロジック（検索・貸出・在庫管理・延滞チェック）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120640" y="3364992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554480" y="3529584"/>
            <a:ext cx="7132320" cy="10972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3877056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31136" y="36210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データ層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2231136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database.py + library.db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231136" y="42611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SQLiteへのデータ読み書き、テーブル定義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システム設計 ― ユースケース &amp; ER図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ユースケース（主要3アクタ）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005840" cy="10789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利用者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1490472"/>
            <a:ext cx="2651760" cy="274320"/>
          </a:xfrm>
          <a:prstGeom prst="ellipse">
            <a:avLst/>
          </a:prstGeom>
          <a:solidFill>
            <a:srgbClr val="4A90D9">
              <a:alpha val="15000"/>
            </a:srgbClr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490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蔵書を検索する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81328" y="1627632"/>
            <a:ext cx="118872" cy="0"/>
          </a:xfrm>
          <a:prstGeom prst="LINE">
            <a:avLst/>
          </a:prstGeom>
          <a:noFill/>
          <a:ln w="9525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819656"/>
            <a:ext cx="2651760" cy="274320"/>
          </a:xfrm>
          <a:prstGeom prst="ellipse">
            <a:avLst/>
          </a:prstGeom>
          <a:solidFill>
            <a:srgbClr val="4A90D9">
              <a:alpha val="15000"/>
            </a:srgbClr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819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貸出状況を確認する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956816"/>
            <a:ext cx="118872" cy="0"/>
          </a:xfrm>
          <a:prstGeom prst="LINE">
            <a:avLst/>
          </a:prstGeom>
          <a:noFill/>
          <a:ln w="9525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148840"/>
            <a:ext cx="2651760" cy="274320"/>
          </a:xfrm>
          <a:prstGeom prst="ellipse">
            <a:avLst/>
          </a:prstGeom>
          <a:solidFill>
            <a:srgbClr val="4A90D9">
              <a:alpha val="15000"/>
            </a:srgbClr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本を予約する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81328" y="2286000"/>
            <a:ext cx="118872" cy="0"/>
          </a:xfrm>
          <a:prstGeom prst="LINE">
            <a:avLst/>
          </a:prstGeom>
          <a:noFill/>
          <a:ln w="9525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33472"/>
            <a:ext cx="100584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33472"/>
            <a:ext cx="1005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職員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2679192"/>
            <a:ext cx="2651760" cy="274320"/>
          </a:xfrm>
          <a:prstGeom prst="ellipse">
            <a:avLst/>
          </a:prstGeom>
          <a:solidFill>
            <a:srgbClr val="028090">
              <a:alpha val="1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679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貸出登録する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81328" y="2816352"/>
            <a:ext cx="118872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3008376"/>
            <a:ext cx="2651760" cy="274320"/>
          </a:xfrm>
          <a:prstGeom prst="ellipse">
            <a:avLst/>
          </a:prstGeom>
          <a:solidFill>
            <a:srgbClr val="028090">
              <a:alpha val="1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3008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返却登録する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81328" y="3145536"/>
            <a:ext cx="118872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3337560"/>
            <a:ext cx="2651760" cy="274320"/>
          </a:xfrm>
          <a:prstGeom prst="ellipse">
            <a:avLst/>
          </a:prstGeom>
          <a:solidFill>
            <a:srgbClr val="028090">
              <a:alpha val="15000"/>
            </a:srgbClr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延滞者を確認する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81328" y="3474720"/>
            <a:ext cx="118872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22192"/>
            <a:ext cx="1005840" cy="7498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221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管理者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00200" y="3867912"/>
            <a:ext cx="2651760" cy="274320"/>
          </a:xfrm>
          <a:prstGeom prst="ellipse">
            <a:avLst/>
          </a:prstGeom>
          <a:solidFill>
            <a:srgbClr val="6D2E46">
              <a:alpha val="15000"/>
            </a:srgbClr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蔵書を登録・削除する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81328" y="4005072"/>
            <a:ext cx="118872" cy="0"/>
          </a:xfrm>
          <a:prstGeom prst="LINE">
            <a:avLst/>
          </a:prstGeom>
          <a:noFill/>
          <a:ln w="9525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0200" y="4197096"/>
            <a:ext cx="2651760" cy="274320"/>
          </a:xfrm>
          <a:prstGeom prst="ellipse">
            <a:avLst/>
          </a:prstGeom>
          <a:solidFill>
            <a:srgbClr val="6D2E46">
              <a:alpha val="15000"/>
            </a:srgbClr>
          </a:solidFill>
          <a:ln w="9525">
            <a:solidFill>
              <a:srgbClr val="6D2E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4197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利用者を登録・削除する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81328" y="4334256"/>
            <a:ext cx="118872" cy="0"/>
          </a:xfrm>
          <a:prstGeom prst="LINE">
            <a:avLst/>
          </a:prstGeom>
          <a:noFill/>
          <a:ln w="9525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ER図（主要4テーブル）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54880" y="1417320"/>
            <a:ext cx="219456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417320"/>
            <a:ext cx="21945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BOOKS（蔵書）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18196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book_id PK, isbn, title, author,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category, total_copies, available_copies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788920"/>
            <a:ext cx="219456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788920"/>
            <a:ext cx="21945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MEMBERS（利用者）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1912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member_id PK, 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email, registered_at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1417320"/>
            <a:ext cx="219456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75120" y="1417320"/>
            <a:ext cx="21945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LOANS（貸出）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18196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loan_id PK, book_id FK,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member_id FK, loaned_at,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due_date, returned_at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75120" y="3154680"/>
            <a:ext cx="2194560" cy="12344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75120" y="3154680"/>
            <a:ext cx="21945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3154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RESERVATIONS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35570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reservation_id PK,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book_id FK, member_id FK,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reserved_at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75120" y="2029968"/>
            <a:ext cx="-1828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675120" y="3767328"/>
            <a:ext cx="-1828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754880" y="3419856"/>
            <a:ext cx="0" cy="-310896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プログラム構成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74904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図書館貸し出しシステム/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7007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main.py（app.py）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39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library.db（自動生成）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templates/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3017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base.html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search.html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loan.html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return.html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895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overdue.html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admin_books.html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334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admin_members.html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804672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1097280" cy="804672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444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プレゼン層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11155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URLルーティング・リクエスト処理・画面へのデータ受け渡し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4114800" cy="804672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920240"/>
            <a:ext cx="1097280" cy="804672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011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アプリ層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0299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業務ロジック（検索・貸出・返却・延滞）・SQL発行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4114800" cy="804672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834640"/>
            <a:ext cx="1097280" cy="804672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データ層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29443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DB初期化・接続管理・テーブル定義・サンプルデータ挿入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4114800" cy="804672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749040"/>
            <a:ext cx="1097280" cy="804672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プレゼン層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3858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Jinja2テンプレート・Bootstrap5でUI構築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主要機能の実装解説①　蔵書検索 / 貸出登録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🔍  蔵書検索（FR-01〜03）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WHERE句の動的AND検索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→ LIKE '%値%'（書名・ISBN）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  → LIKE '%値%'（著者名）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category→ LIKE '%値%'（カテゴリ）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複数条件を AND で自動結合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検索結果に貸出状況を表示（FR-02）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1920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在庫あり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3127248"/>
            <a:ext cx="1920240" cy="457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貸出中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available_copies の値で条件分岐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📋  貸出登録（FR-05, 07）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4114800" cy="512064"/>
          </a:xfrm>
          <a:prstGeom prst="rect">
            <a:avLst>
              <a:gd name="adj" fmla="val 14286"/>
            </a:avLst>
          </a:prstGeom>
          <a:solidFill>
            <a:srgbClr val="FFF5F5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在庫確認  available_copies &gt; 0？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01768" y="1828800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93392"/>
            <a:ext cx="4114800" cy="512064"/>
          </a:xfrm>
          <a:prstGeom prst="rect">
            <a:avLst>
              <a:gd name="adj" fmla="val 14286"/>
            </a:avLst>
          </a:prstGeom>
          <a:solidFill>
            <a:srgbClr val="FFF5F5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084832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上限確認  現在の貸出数 &lt; 5 冊？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2404872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69464"/>
            <a:ext cx="4114800" cy="512064"/>
          </a:xfrm>
          <a:prstGeom prst="rect">
            <a:avLst>
              <a:gd name="adj" fmla="val 14286"/>
            </a:avLst>
          </a:prstGeom>
          <a:solidFill>
            <a:srgbClr val="FFF5F5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660904"/>
            <a:ext cx="320040" cy="320040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660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延滞確認  7日以上延滞中でない？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1768" y="2980944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145536"/>
            <a:ext cx="4114800" cy="512064"/>
          </a:xfrm>
          <a:prstGeom prst="rect">
            <a:avLst>
              <a:gd name="adj" fmla="val 1428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23697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236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   LOANSに貸出レコード追加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01768" y="3557016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721608"/>
            <a:ext cx="4114800" cy="512064"/>
          </a:xfrm>
          <a:prstGeom prst="rect">
            <a:avLst>
              <a:gd name="adj" fmla="val 1428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81304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13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   available_copies を −1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01768" y="4133088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297680"/>
            <a:ext cx="4114800" cy="512064"/>
          </a:xfrm>
          <a:prstGeom prst="rect">
            <a:avLst>
              <a:gd name="adj" fmla="val 14286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38912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   DBに確定書き込み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4754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8090"/>
                </a:solidFill>
              </a:rPr>
              <a:t>返却期限 = 貸出日 + 14日  （FR-07）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主要機能の実装解説②　返却登録 / 延滞管理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↩  返却登録（FR-06）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463040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未返却レコードを検索（returned_at IS NULL）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returned_at に現在日時をUPDATE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241401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available_copies を +1（在庫を戻す）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288950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COMMIT → 返却完了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在庫の変化イメージ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737360" cy="64008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3030"/>
                </a:solidFill>
              </a:rPr>
              <a:t>貸出前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3030"/>
                </a:solidFill>
              </a:rPr>
              <a:t>在庫: 1/2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12848" y="40690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3749040"/>
            <a:ext cx="1737360" cy="640080"/>
          </a:xfrm>
          <a:prstGeom prst="rect">
            <a:avLst/>
          </a:prstGeom>
          <a:solidFill>
            <a:srgbClr val="C6F6D5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6749"/>
                </a:solidFill>
              </a:rPr>
              <a:t>返却後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76749"/>
                </a:solidFill>
              </a:rPr>
              <a:t>在庫: 2/2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987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⚠  延滞管理（FR-12）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411480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SQL で延滞日数を計算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18470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(julianday(今日) - julianday(due_date))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overdue_days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returned_at IS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due_date &lt; 今日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延滞日数による色分け表示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520440"/>
            <a:ext cx="1920240" cy="50292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2C2C"/>
                </a:solidFill>
              </a:rPr>
              <a:t>🔴  7日以上延滞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2C2C"/>
                </a:solidFill>
              </a:rPr>
              <a:t>→ 貸出停止対象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520440"/>
            <a:ext cx="2011680" cy="502920"/>
          </a:xfrm>
          <a:prstGeom prst="rect">
            <a:avLst/>
          </a:prstGeom>
          <a:solidFill>
            <a:srgbClr val="FEFCB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44210"/>
                </a:solidFill>
              </a:rPr>
              <a:t>🟡  7日未満延滞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44210"/>
                </a:solidFill>
              </a:rPr>
              <a:t>→ 督促が必要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133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28090"/>
                </a:solidFill>
              </a:rPr>
              <a:t>ビジネスルール：延滞7日超は次の貸出を自動ブロック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画面紹介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蔵書検索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0665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23225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AND検索・貸出状況リアルタイム表示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4400" y="2724912"/>
            <a:ext cx="1691640" cy="155448"/>
          </a:xfrm>
          <a:prstGeom prst="rect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72491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</a:rPr>
              <a:t>FR-01〜03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060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1430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貸出登録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46120" y="20665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/loan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37560" y="23225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利用者・蔵書選択・返却期限自動設定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703320" y="2724912"/>
            <a:ext cx="1691640" cy="15544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703320" y="272491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FR-05,07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035040" y="100584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005840"/>
            <a:ext cx="2606040" cy="6583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14300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返却登録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035040" y="20665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/return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126480" y="23225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未返却の本を選択して返却処理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492240" y="2724912"/>
            <a:ext cx="1691640" cy="155448"/>
          </a:xfrm>
          <a:prstGeom prst="rect">
            <a:avLst/>
          </a:prstGeom>
          <a:solidFill>
            <a:srgbClr val="6D2E46">
              <a:alpha val="30000"/>
            </a:srgbClr>
          </a:solidFill>
          <a:ln w="12700">
            <a:solidFill>
              <a:srgbClr val="6D2E46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92240" y="272491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E46"/>
                </a:solidFill>
              </a:rPr>
              <a:t>FR-06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57200" y="310896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3108960"/>
            <a:ext cx="2606040" cy="65836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24612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57200" y="3822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延滞一覧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57200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/overdue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48640" y="44256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延滞日数順・色分けで優先度を表示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914400" y="4828032"/>
            <a:ext cx="1691640" cy="155448"/>
          </a:xfrm>
          <a:prstGeom prst="rect">
            <a:avLst/>
          </a:prstGeom>
          <a:solidFill>
            <a:srgbClr val="C05621">
              <a:alpha val="30000"/>
            </a:srgbClr>
          </a:solidFill>
          <a:ln w="12700">
            <a:solidFill>
              <a:srgbClr val="C05621">
                <a:alpha val="3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4400" y="482803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5621"/>
                </a:solidFill>
              </a:rPr>
              <a:t>FR-12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246120" y="310896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246120" y="3108960"/>
            <a:ext cx="2606040" cy="658368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246120"/>
            <a:ext cx="384048" cy="38404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246120" y="3822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蔵書管理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3246120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/admin/books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3337560" y="44256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蔵書の登録・削除（管理者向け）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3703320" y="4828032"/>
            <a:ext cx="1691640" cy="155448"/>
          </a:xfrm>
          <a:prstGeom prst="rect">
            <a:avLst/>
          </a:prstGeom>
          <a:solidFill>
            <a:srgbClr val="2E4D7B">
              <a:alpha val="30000"/>
            </a:srgbClr>
          </a:solidFill>
          <a:ln w="12700">
            <a:solidFill>
              <a:srgbClr val="2E4D7B">
                <a:alpha val="30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703320" y="482803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4D7B"/>
                </a:solidFill>
              </a:rPr>
              <a:t>FR-15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035040" y="3108960"/>
            <a:ext cx="2606040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35040" y="3108960"/>
            <a:ext cx="2606040" cy="6583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246120"/>
            <a:ext cx="384048" cy="38404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035040" y="3822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利用者管理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6035040" y="41696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/admin/members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6126480" y="442569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利用者の登録・削除（管理者向け）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6492240" y="4828032"/>
            <a:ext cx="1691640" cy="155448"/>
          </a:xfrm>
          <a:prstGeom prst="rect">
            <a:avLst/>
          </a:prstGeom>
          <a:solidFill>
            <a:srgbClr val="276749">
              <a:alpha val="30000"/>
            </a:srgbClr>
          </a:solidFill>
          <a:ln w="12700">
            <a:solidFill>
              <a:srgbClr val="276749">
                <a:alpha val="3000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492240" y="4828032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6749"/>
                </a:solidFill>
              </a:rPr>
              <a:t>FR-16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まとめ ― 要求定義書との対応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要求ID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987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9875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実装箇所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987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状態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FR-01〜03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463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蔵書検索（AND検索・状況表示）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4630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search_books()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12280" y="1463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859536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92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FR-05,07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貸出登録・返却期限自動設定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1892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loan_book()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1892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76856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225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3225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返却登録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3225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return_book()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23225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06624"/>
            <a:ext cx="859536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523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27523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延滞一覧（日数計算）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7523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get_overdue_list()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2280" y="27523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136392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82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182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蔵書の登録・削除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182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add/delete_book()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3182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859536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11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3611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利用者の登録・削除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3611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  add/delete_member()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36118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995928"/>
            <a:ext cx="8595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041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0416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レスポンシブデザイン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  Bootstrap 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12280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達成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solidFill>
            <a:srgbClr val="F4F7FC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4714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44714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文字サイズ12pt以上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840480" y="4471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  font-size:16px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4471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達成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Must要件（必須）を全て実装　NFRのレスポンシブ・視認性も達成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振り返りと今後の展望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開発を通じて学んだこと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114800" cy="457200"/>
          </a:xfrm>
          <a:prstGeom prst="rect">
            <a:avLst>
              <a:gd name="adj" fmla="val 16000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44752"/>
            <a:ext cx="274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179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3層アーキテクチャによる関心の分離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114800" cy="457200"/>
          </a:xfrm>
          <a:prstGeom prst="rect">
            <a:avLst>
              <a:gd name="adj" fmla="val 16000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93392"/>
            <a:ext cx="274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933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0665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要求定義書 → 設計 → 実装の流れ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114800" cy="457200"/>
          </a:xfrm>
          <a:prstGeom prst="rect">
            <a:avLst>
              <a:gd name="adj" fmla="val 16000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42032"/>
            <a:ext cx="274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42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6151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SQLの動的条件組み立てとトランザクション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4114800" cy="457200"/>
          </a:xfrm>
          <a:prstGeom prst="rect">
            <a:avLst>
              <a:gd name="adj" fmla="val 16000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90672"/>
            <a:ext cx="274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906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1638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PRGパターンによる二重送信防止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4114800" cy="457200"/>
          </a:xfrm>
          <a:prstGeom prst="rect">
            <a:avLst>
              <a:gd name="adj" fmla="val 16000"/>
            </a:avLst>
          </a:prstGeom>
          <a:solidFill>
            <a:srgbClr val="EBF8F7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39312"/>
            <a:ext cx="2743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393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7124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テンプレート継承でUI共通化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今後の改善案（Should / Could）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1517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予約機能（FR-09,10）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1847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貸出中の本を予約・返却時に通知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340864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42032"/>
            <a:ext cx="365760" cy="365760"/>
          </a:xfrm>
          <a:prstGeom prst="ellipse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リマインドメール（FR-13）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返却期限3日前に自動送信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236976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438144"/>
            <a:ext cx="365760" cy="365760"/>
          </a:xfrm>
          <a:prstGeom prst="ellipse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21808" y="3310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統計・可視化（FR-17）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21808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貸出数のグラフ表示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133088"/>
            <a:ext cx="4114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334256"/>
            <a:ext cx="365760" cy="365760"/>
          </a:xfrm>
          <a:prstGeom prst="ellipse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4206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ハイスコア保存・ログイン機能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21808" y="4535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セキュリティ強化（NFR-08,09）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4D7B"/>
          </a:solidFill>
          <a:ln w="12700">
            <a:solidFill>
              <a:srgbClr val="2E4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ご清聴ありがとうございました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図書館蔵書検索システム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情報システムデザイン 最終課題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図書館蔵書検索システム 発表スライド</dc:title>
  <dc:subject>PptxGenJS Presentation</dc:subject>
  <dc:creator>PptxGenJS</dc:creator>
  <cp:lastModifiedBy>PptxGenJS</cp:lastModifiedBy>
  <cp:revision>1</cp:revision>
  <dcterms:created xsi:type="dcterms:W3CDTF">2026-07-06T04:14:53Z</dcterms:created>
  <dcterms:modified xsi:type="dcterms:W3CDTF">2026-07-06T04:14:53Z</dcterms:modified>
</cp:coreProperties>
</file>